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61" r:id="rId2"/>
    <p:sldId id="264" r:id="rId3"/>
  </p:sldIdLst>
  <p:sldSz cx="7559675" cy="10691813"/>
  <p:notesSz cx="6888163" cy="10018713"/>
  <p:defaultTextStyle>
    <a:defPPr rtl="0">
      <a:defRPr lang="ja-jp"/>
    </a:defPPr>
    <a:lvl1pPr marL="0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1pPr>
    <a:lvl2pPr marL="467836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2pPr>
    <a:lvl3pPr marL="935670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3pPr>
    <a:lvl4pPr marL="1403505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4pPr>
    <a:lvl5pPr marL="1871344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5pPr>
    <a:lvl6pPr marL="2339180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6pPr>
    <a:lvl7pPr marL="2807013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7pPr>
    <a:lvl8pPr marL="3274849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8pPr>
    <a:lvl9pPr marL="3742685" algn="l" defTabSz="935670" rtl="0" eaLnBrk="1" latinLnBrk="0" hangingPunct="1">
      <a:defRPr sz="184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C6600"/>
    <a:srgbClr val="F3D569"/>
    <a:srgbClr val="F0F0F0"/>
    <a:srgbClr val="17839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74" autoAdjust="0"/>
    <p:restoredTop sz="95894" autoAdjust="0"/>
  </p:normalViewPr>
  <p:slideViewPr>
    <p:cSldViewPr snapToGrid="0">
      <p:cViewPr>
        <p:scale>
          <a:sx n="80" d="100"/>
          <a:sy n="80" d="100"/>
        </p:scale>
        <p:origin x="1860" y="-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9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4"/>
            <a:ext cx="2984870" cy="502676"/>
          </a:xfrm>
          <a:prstGeom prst="rect">
            <a:avLst/>
          </a:prstGeom>
        </p:spPr>
        <p:txBody>
          <a:bodyPr vert="horz" lIns="96557" tIns="48279" rIns="96557" bIns="48279" rtlCol="0"/>
          <a:lstStyle>
            <a:lvl1pPr algn="l">
              <a:defRPr sz="1400"/>
            </a:lvl1pPr>
          </a:lstStyle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901703" y="4"/>
            <a:ext cx="2984870" cy="502676"/>
          </a:xfrm>
          <a:prstGeom prst="rect">
            <a:avLst/>
          </a:prstGeom>
        </p:spPr>
        <p:txBody>
          <a:bodyPr vert="horz" lIns="96557" tIns="48279" rIns="96557" bIns="48279" rtlCol="0"/>
          <a:lstStyle>
            <a:lvl1pPr algn="r">
              <a:defRPr sz="1400"/>
            </a:lvl1pPr>
          </a:lstStyle>
          <a:p>
            <a:pPr rtl="0"/>
            <a:fld id="{5C5A8424-D5F7-4A3E-8DD4-252A67E0C2D3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2026/1/9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6" y="9516041"/>
            <a:ext cx="2984870" cy="502675"/>
          </a:xfrm>
          <a:prstGeom prst="rect">
            <a:avLst/>
          </a:prstGeom>
        </p:spPr>
        <p:txBody>
          <a:bodyPr vert="horz" lIns="96557" tIns="48279" rIns="96557" bIns="48279" rtlCol="0" anchor="b"/>
          <a:lstStyle>
            <a:lvl1pPr algn="l">
              <a:defRPr sz="1400"/>
            </a:lvl1pPr>
          </a:lstStyle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901703" y="9516041"/>
            <a:ext cx="2984870" cy="502675"/>
          </a:xfrm>
          <a:prstGeom prst="rect">
            <a:avLst/>
          </a:prstGeom>
        </p:spPr>
        <p:txBody>
          <a:bodyPr vert="horz" lIns="96557" tIns="48279" rIns="96557" bIns="48279" rtlCol="0" anchor="b"/>
          <a:lstStyle>
            <a:lvl1pPr algn="r">
              <a:defRPr sz="1400"/>
            </a:lvl1pPr>
          </a:lstStyle>
          <a:p>
            <a:pPr rtl="0"/>
            <a:fld id="{1F533747-E797-4D46-BCF7-FA3DBEECCA6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761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6" y="4"/>
            <a:ext cx="2984870" cy="502676"/>
          </a:xfrm>
          <a:prstGeom prst="rect">
            <a:avLst/>
          </a:prstGeom>
        </p:spPr>
        <p:txBody>
          <a:bodyPr vert="horz" lIns="96557" tIns="48279" rIns="96557" bIns="48279" rtlCol="0"/>
          <a:lstStyle>
            <a:lvl1pPr algn="l"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1703" y="4"/>
            <a:ext cx="2984870" cy="502676"/>
          </a:xfrm>
          <a:prstGeom prst="rect">
            <a:avLst/>
          </a:prstGeom>
        </p:spPr>
        <p:txBody>
          <a:bodyPr vert="horz" lIns="96557" tIns="48279" rIns="96557" bIns="48279" rtlCol="0"/>
          <a:lstStyle>
            <a:lvl1pPr algn="r"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85DA21-4F93-4B8C-91C5-C702544085F7}" type="datetime1">
              <a:rPr lang="ja-JP" altLang="en-US" smtClean="0"/>
              <a:pPr/>
              <a:t>2026/1/9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51075" y="1252538"/>
            <a:ext cx="2386013" cy="3378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57" tIns="48279" rIns="96557" bIns="48279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817" y="4821508"/>
            <a:ext cx="5510530" cy="3944869"/>
          </a:xfrm>
          <a:prstGeom prst="rect">
            <a:avLst/>
          </a:prstGeom>
        </p:spPr>
        <p:txBody>
          <a:bodyPr vert="horz" lIns="96557" tIns="48279" rIns="96557" bIns="48279" rtlCol="0"/>
          <a:lstStyle/>
          <a:p>
            <a:pPr lvl="0" rtl="0"/>
            <a:r>
              <a:rPr lang="ja-JP" altLang="en-US" noProof="0" dirty="0"/>
              <a:t>マスター テキストのスタイルを編集する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6" y="9516041"/>
            <a:ext cx="2984870" cy="502675"/>
          </a:xfrm>
          <a:prstGeom prst="rect">
            <a:avLst/>
          </a:prstGeom>
        </p:spPr>
        <p:txBody>
          <a:bodyPr vert="horz" lIns="96557" tIns="48279" rIns="96557" bIns="48279" rtlCol="0" anchor="b"/>
          <a:lstStyle>
            <a:lvl1pPr algn="l"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1703" y="9516041"/>
            <a:ext cx="2984870" cy="502675"/>
          </a:xfrm>
          <a:prstGeom prst="rect">
            <a:avLst/>
          </a:prstGeom>
        </p:spPr>
        <p:txBody>
          <a:bodyPr vert="horz" lIns="96557" tIns="48279" rIns="96557" bIns="48279" rtlCol="0" anchor="b"/>
          <a:lstStyle>
            <a:lvl1pPr algn="r">
              <a:defRPr sz="1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CBF6BF1-A5AF-4C59-82BB-F453774C5F00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5721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5670" rtl="0" eaLnBrk="1" latinLnBrk="0" hangingPunct="1">
      <a:defRPr sz="1228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67836" algn="l" defTabSz="935670" rtl="0" eaLnBrk="1" latinLnBrk="0" hangingPunct="1">
      <a:defRPr sz="1228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35670" algn="l" defTabSz="935670" rtl="0" eaLnBrk="1" latinLnBrk="0" hangingPunct="1">
      <a:defRPr sz="1228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403505" algn="l" defTabSz="935670" rtl="0" eaLnBrk="1" latinLnBrk="0" hangingPunct="1">
      <a:defRPr sz="1228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71344" algn="l" defTabSz="935670" rtl="0" eaLnBrk="1" latinLnBrk="0" hangingPunct="1">
      <a:defRPr sz="1228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339180" algn="l" defTabSz="935670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6pPr>
    <a:lvl7pPr marL="2807013" algn="l" defTabSz="935670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7pPr>
    <a:lvl8pPr marL="3274849" algn="l" defTabSz="935670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8pPr>
    <a:lvl9pPr marL="3742685" algn="l" defTabSz="935670" rtl="0" eaLnBrk="1" latinLnBrk="0" hangingPunct="1">
      <a:defRPr sz="1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45BB-E344-FA51-185B-D9DD68D5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CFFC9E1-3606-2540-0CD1-9ED7074C7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51075" y="1252538"/>
            <a:ext cx="2386013" cy="337820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4DF73E2-3C5F-0F69-86C6-86200E2AA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E70644-EFC1-080B-5033-0122D5FE1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CBF6BF1-A5AF-4C59-82BB-F453774C5F00}" type="slidenum">
              <a:rPr lang="en-US" altLang="ja-JP" smtClean="0"/>
              <a:t>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04076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 x 11 のチラ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長方形 44">
            <a:extLst>
              <a:ext uri="{FF2B5EF4-FFF2-40B4-BE49-F238E27FC236}">
                <a16:creationId xmlns:a16="http://schemas.microsoft.com/office/drawing/2014/main" id="{0BDA88E2-4314-48D9-B7B1-B9184418746E}"/>
              </a:ext>
            </a:extLst>
          </p:cNvPr>
          <p:cNvSpPr/>
          <p:nvPr userDrawn="1"/>
        </p:nvSpPr>
        <p:spPr>
          <a:xfrm>
            <a:off x="0" y="-4050"/>
            <a:ext cx="7559675" cy="24756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611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長方形 21">
            <a:extLst>
              <a:ext uri="{FF2B5EF4-FFF2-40B4-BE49-F238E27FC236}">
                <a16:creationId xmlns:a16="http://schemas.microsoft.com/office/drawing/2014/main" id="{2DA7F4D3-EEA0-4A71-99C0-CF8C891958ED}"/>
              </a:ext>
            </a:extLst>
          </p:cNvPr>
          <p:cNvSpPr/>
          <p:nvPr userDrawn="1"/>
        </p:nvSpPr>
        <p:spPr>
          <a:xfrm>
            <a:off x="0" y="10256308"/>
            <a:ext cx="7559675" cy="4355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611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1" name="グループ 20">
            <a:extLst>
              <a:ext uri="{FF2B5EF4-FFF2-40B4-BE49-F238E27FC236}">
                <a16:creationId xmlns:a16="http://schemas.microsoft.com/office/drawing/2014/main" id="{A47023AB-33B5-491E-A63C-04F3A295FA0D}"/>
              </a:ext>
            </a:extLst>
          </p:cNvPr>
          <p:cNvGrpSpPr/>
          <p:nvPr userDrawn="1"/>
        </p:nvGrpSpPr>
        <p:grpSpPr>
          <a:xfrm>
            <a:off x="13302" y="-39400"/>
            <a:ext cx="3980794" cy="2511952"/>
            <a:chOff x="961768" y="-18071"/>
            <a:chExt cx="3103859" cy="4663451"/>
          </a:xfrm>
        </p:grpSpPr>
        <p:pic>
          <p:nvPicPr>
            <p:cNvPr id="7" name="グラフィック 6">
              <a:extLst>
                <a:ext uri="{FF2B5EF4-FFF2-40B4-BE49-F238E27FC236}">
                  <a16:creationId xmlns:a16="http://schemas.microsoft.com/office/drawing/2014/main" id="{A39F960E-73F2-49ED-BD53-430B324CFB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1768" y="0"/>
              <a:ext cx="3103859" cy="4627314"/>
            </a:xfrm>
            <a:prstGeom prst="rect">
              <a:avLst/>
            </a:prstGeom>
          </p:spPr>
        </p:pic>
        <p:pic>
          <p:nvPicPr>
            <p:cNvPr id="19" name="グラフィック 18">
              <a:extLst>
                <a:ext uri="{FF2B5EF4-FFF2-40B4-BE49-F238E27FC236}">
                  <a16:creationId xmlns:a16="http://schemas.microsoft.com/office/drawing/2014/main" id="{2DD18C4C-0EC4-4930-9254-9ED3347EF1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43283" y="-18071"/>
              <a:ext cx="1908428" cy="4663451"/>
            </a:xfrm>
            <a:prstGeom prst="rect">
              <a:avLst/>
            </a:prstGeom>
          </p:spPr>
        </p:pic>
      </p:grpSp>
      <p:sp>
        <p:nvSpPr>
          <p:cNvPr id="31" name="テキスト プレースホルダー 8"/>
          <p:cNvSpPr>
            <a:spLocks noGrp="1"/>
          </p:cNvSpPr>
          <p:nvPr>
            <p:ph type="body" sz="quarter" idx="16" hasCustomPrompt="1"/>
          </p:nvPr>
        </p:nvSpPr>
        <p:spPr>
          <a:xfrm>
            <a:off x="465526" y="6172871"/>
            <a:ext cx="1873769" cy="335689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82000"/>
              </a:lnSpc>
              <a:spcBef>
                <a:spcPts val="0"/>
              </a:spcBef>
              <a:buNone/>
              <a:defRPr sz="1524" b="1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ここに見出しテキスト</a:t>
            </a:r>
          </a:p>
        </p:txBody>
      </p:sp>
      <p:sp>
        <p:nvSpPr>
          <p:cNvPr id="32" name="テキスト プレースホルダー 8"/>
          <p:cNvSpPr>
            <a:spLocks noGrp="1"/>
          </p:cNvSpPr>
          <p:nvPr>
            <p:ph type="body" sz="quarter" idx="18" hasCustomPrompt="1"/>
          </p:nvPr>
        </p:nvSpPr>
        <p:spPr>
          <a:xfrm>
            <a:off x="574989" y="10145080"/>
            <a:ext cx="6471590" cy="111228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82000"/>
              </a:lnSpc>
              <a:spcBef>
                <a:spcPts val="0"/>
              </a:spcBef>
              <a:buNone/>
              <a:defRPr sz="952" b="1" cap="all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会社名</a:t>
            </a:r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989" y="10381812"/>
            <a:ext cx="6471590" cy="292901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5000"/>
              </a:lnSpc>
              <a:spcBef>
                <a:spcPts val="0"/>
              </a:spcBef>
              <a:buNone/>
              <a:defRPr sz="809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郵便番号、都道府県、市区町村、番地</a:t>
            </a:r>
          </a:p>
          <a:p>
            <a:pPr lvl="0" rtl="0"/>
            <a:r>
              <a:rPr lang="ja-JP" altLang="en-US" noProof="0" dirty="0"/>
              <a:t>電話番号 </a:t>
            </a:r>
            <a:r>
              <a:rPr lang="en-US" altLang="ja-JP" noProof="0" dirty="0"/>
              <a:t>|</a:t>
            </a:r>
            <a:r>
              <a:rPr lang="ja-JP" altLang="en-US" noProof="0" dirty="0"/>
              <a:t>メール アドレス </a:t>
            </a:r>
            <a:r>
              <a:rPr lang="en-US" altLang="ja-JP" noProof="0" dirty="0"/>
              <a:t>| Web </a:t>
            </a:r>
            <a:r>
              <a:rPr lang="ja-JP" altLang="en-US" noProof="0" dirty="0"/>
              <a:t>アドレス</a:t>
            </a:r>
          </a:p>
        </p:txBody>
      </p:sp>
      <p:pic>
        <p:nvPicPr>
          <p:cNvPr id="13" name="グラフィック 12">
            <a:extLst>
              <a:ext uri="{FF2B5EF4-FFF2-40B4-BE49-F238E27FC236}">
                <a16:creationId xmlns:a16="http://schemas.microsoft.com/office/drawing/2014/main" id="{B63DE7D5-3C9E-4C66-90C4-9C51384A6E2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1074" y="-8960"/>
            <a:ext cx="1596894" cy="3032322"/>
          </a:xfrm>
          <a:prstGeom prst="rect">
            <a:avLst/>
          </a:prstGeom>
        </p:spPr>
      </p:pic>
      <p:sp>
        <p:nvSpPr>
          <p:cNvPr id="25" name="テキスト プレースホルダー 8">
            <a:extLst>
              <a:ext uri="{FF2B5EF4-FFF2-40B4-BE49-F238E27FC236}">
                <a16:creationId xmlns:a16="http://schemas.microsoft.com/office/drawing/2014/main" id="{90DD3788-4D4C-42EB-B54D-ACA14B3B1C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5562" y="6172871"/>
            <a:ext cx="1873769" cy="335689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82000"/>
              </a:lnSpc>
              <a:spcBef>
                <a:spcPts val="0"/>
              </a:spcBef>
              <a:buNone/>
              <a:defRPr sz="1524" b="1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ここに見出しテキスト</a:t>
            </a:r>
          </a:p>
        </p:txBody>
      </p:sp>
      <p:sp>
        <p:nvSpPr>
          <p:cNvPr id="30" name="テキスト プレースホルダー 8">
            <a:extLst>
              <a:ext uri="{FF2B5EF4-FFF2-40B4-BE49-F238E27FC236}">
                <a16:creationId xmlns:a16="http://schemas.microsoft.com/office/drawing/2014/main" id="{C63311B7-4A4A-4A20-8425-D04117F78D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2271" y="6172871"/>
            <a:ext cx="1873769" cy="335689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>
            <a:lvl1pPr marL="0" indent="0" algn="ctr">
              <a:lnSpc>
                <a:spcPct val="82000"/>
              </a:lnSpc>
              <a:spcBef>
                <a:spcPts val="0"/>
              </a:spcBef>
              <a:buNone/>
              <a:defRPr sz="1524" b="1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ここに見出しテキスト</a:t>
            </a:r>
          </a:p>
        </p:txBody>
      </p:sp>
      <p:sp>
        <p:nvSpPr>
          <p:cNvPr id="59" name="タイトル 56">
            <a:extLst>
              <a:ext uri="{FF2B5EF4-FFF2-40B4-BE49-F238E27FC236}">
                <a16:creationId xmlns:a16="http://schemas.microsoft.com/office/drawing/2014/main" id="{3826DDF4-1914-41F4-8EC6-D1100F5DF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106" y="3005194"/>
            <a:ext cx="4980934" cy="787629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algn="ctr" rtl="0"/>
            <a:r>
              <a:rPr lang="ja-JP" altLang="en-US" noProof="0" dirty="0"/>
              <a:t>イベントのタイトル</a:t>
            </a:r>
          </a:p>
        </p:txBody>
      </p:sp>
      <p:sp>
        <p:nvSpPr>
          <p:cNvPr id="38" name="テキスト プレースホルダー 2">
            <a:extLst>
              <a:ext uri="{FF2B5EF4-FFF2-40B4-BE49-F238E27FC236}">
                <a16:creationId xmlns:a16="http://schemas.microsoft.com/office/drawing/2014/main" id="{23BA8588-6AAC-4F6C-86E3-3FA8016FD0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5526" y="6783649"/>
            <a:ext cx="1873769" cy="2875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333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altLang="ja-JP" noProof="0" dirty="0"/>
              <a:t>Lorem ipsum dolor sit </a:t>
            </a:r>
            <a:r>
              <a:rPr lang="en-US" altLang="ja-JP" noProof="0" dirty="0" err="1"/>
              <a:t>amet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consectetur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adipiscing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elit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sed</a:t>
            </a:r>
            <a:r>
              <a:rPr lang="en-US" altLang="ja-JP" noProof="0" dirty="0"/>
              <a:t> do </a:t>
            </a:r>
            <a:r>
              <a:rPr lang="en-US" altLang="ja-JP" noProof="0" dirty="0" err="1"/>
              <a:t>eiusmod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tempor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incididunt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ut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labore</a:t>
            </a:r>
            <a:r>
              <a:rPr lang="en-US" altLang="ja-JP" noProof="0" dirty="0"/>
              <a:t>.</a:t>
            </a:r>
          </a:p>
        </p:txBody>
      </p:sp>
      <p:sp>
        <p:nvSpPr>
          <p:cNvPr id="39" name="テキスト プレースホルダー 2">
            <a:extLst>
              <a:ext uri="{FF2B5EF4-FFF2-40B4-BE49-F238E27FC236}">
                <a16:creationId xmlns:a16="http://schemas.microsoft.com/office/drawing/2014/main" id="{57A1E3A4-6C2C-40D8-ADE2-43E8C1E1E24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925562" y="6783649"/>
            <a:ext cx="1873769" cy="2875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333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altLang="ja-JP" noProof="0" dirty="0"/>
              <a:t>Lorem ipsum dolor sit </a:t>
            </a:r>
            <a:r>
              <a:rPr lang="en-US" altLang="ja-JP" noProof="0" dirty="0" err="1"/>
              <a:t>amet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consectetur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adipiscing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elit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sed</a:t>
            </a:r>
            <a:r>
              <a:rPr lang="en-US" altLang="ja-JP" noProof="0" dirty="0"/>
              <a:t> do </a:t>
            </a:r>
            <a:r>
              <a:rPr lang="en-US" altLang="ja-JP" noProof="0" dirty="0" err="1"/>
              <a:t>eiusmod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tempor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incididunt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ut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labore</a:t>
            </a:r>
            <a:r>
              <a:rPr lang="en-US" altLang="ja-JP" noProof="0" dirty="0"/>
              <a:t>.</a:t>
            </a:r>
          </a:p>
        </p:txBody>
      </p:sp>
      <p:sp>
        <p:nvSpPr>
          <p:cNvPr id="40" name="テキスト プレースホルダー 2">
            <a:extLst>
              <a:ext uri="{FF2B5EF4-FFF2-40B4-BE49-F238E27FC236}">
                <a16:creationId xmlns:a16="http://schemas.microsoft.com/office/drawing/2014/main" id="{E44CFBC3-2E32-4E88-9D31-BA5AC4D33AFD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5282272" y="6782453"/>
            <a:ext cx="1873769" cy="2875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1333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US" altLang="ja-JP" noProof="0" dirty="0"/>
              <a:t>Lorem ipsum dolor sit </a:t>
            </a:r>
            <a:r>
              <a:rPr lang="en-US" altLang="ja-JP" noProof="0" dirty="0" err="1"/>
              <a:t>amet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consectetur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adipiscing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elit</a:t>
            </a:r>
            <a:r>
              <a:rPr lang="en-US" altLang="ja-JP" noProof="0" dirty="0"/>
              <a:t>, </a:t>
            </a:r>
            <a:r>
              <a:rPr lang="en-US" altLang="ja-JP" noProof="0" dirty="0" err="1"/>
              <a:t>sed</a:t>
            </a:r>
            <a:r>
              <a:rPr lang="en-US" altLang="ja-JP" noProof="0" dirty="0"/>
              <a:t> do </a:t>
            </a:r>
            <a:r>
              <a:rPr lang="en-US" altLang="ja-JP" noProof="0" dirty="0" err="1"/>
              <a:t>eiusmod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tempor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incididunt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ut</a:t>
            </a:r>
            <a:r>
              <a:rPr lang="en-US" altLang="ja-JP" noProof="0" dirty="0"/>
              <a:t> </a:t>
            </a:r>
            <a:r>
              <a:rPr lang="en-US" altLang="ja-JP" noProof="0" dirty="0" err="1"/>
              <a:t>labore</a:t>
            </a:r>
            <a:r>
              <a:rPr lang="en-US" altLang="ja-JP" noProof="0" dirty="0"/>
              <a:t>.</a:t>
            </a:r>
          </a:p>
        </p:txBody>
      </p:sp>
      <p:pic>
        <p:nvPicPr>
          <p:cNvPr id="1026" name="Picture 2" descr="How ancient pottery trends spread across the globe | Popular Science">
            <a:extLst>
              <a:ext uri="{FF2B5EF4-FFF2-40B4-BE49-F238E27FC236}">
                <a16:creationId xmlns:a16="http://schemas.microsoft.com/office/drawing/2014/main" id="{5AACE7A0-E43B-FAF4-003B-82493979462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7" y="-13930"/>
            <a:ext cx="7560442" cy="424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221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8.5 x 11 のチラ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長方形 21">
            <a:extLst>
              <a:ext uri="{FF2B5EF4-FFF2-40B4-BE49-F238E27FC236}">
                <a16:creationId xmlns:a16="http://schemas.microsoft.com/office/drawing/2014/main" id="{2DA7F4D3-EEA0-4A71-99C0-CF8C891958ED}"/>
              </a:ext>
            </a:extLst>
          </p:cNvPr>
          <p:cNvSpPr/>
          <p:nvPr userDrawn="1"/>
        </p:nvSpPr>
        <p:spPr>
          <a:xfrm>
            <a:off x="0" y="10045958"/>
            <a:ext cx="7559675" cy="7053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sz="1611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プレースホルダー 8"/>
          <p:cNvSpPr>
            <a:spLocks noGrp="1"/>
          </p:cNvSpPr>
          <p:nvPr>
            <p:ph type="body" sz="quarter" idx="18" hasCustomPrompt="1"/>
          </p:nvPr>
        </p:nvSpPr>
        <p:spPr>
          <a:xfrm>
            <a:off x="574989" y="10145080"/>
            <a:ext cx="6471590" cy="111228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82000"/>
              </a:lnSpc>
              <a:spcBef>
                <a:spcPts val="0"/>
              </a:spcBef>
              <a:buNone/>
              <a:defRPr sz="952" b="1" cap="all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会社名</a:t>
            </a:r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9" hasCustomPrompt="1"/>
          </p:nvPr>
        </p:nvSpPr>
        <p:spPr>
          <a:xfrm>
            <a:off x="574989" y="10381812"/>
            <a:ext cx="6471590" cy="292901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>
            <a:lvl1pPr marL="0" indent="0" algn="ctr">
              <a:lnSpc>
                <a:spcPct val="105000"/>
              </a:lnSpc>
              <a:spcBef>
                <a:spcPts val="0"/>
              </a:spcBef>
              <a:buNone/>
              <a:defRPr sz="809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None/>
              <a:defRPr sz="1905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lvl="0" rtl="0"/>
            <a:r>
              <a:rPr lang="ja-JP" altLang="en-US" noProof="0" dirty="0"/>
              <a:t>郵便番号、都道府県、市区町村、番地</a:t>
            </a:r>
          </a:p>
          <a:p>
            <a:pPr lvl="0" rtl="0"/>
            <a:r>
              <a:rPr lang="ja-JP" altLang="en-US" noProof="0" dirty="0"/>
              <a:t>電話番号 </a:t>
            </a:r>
            <a:r>
              <a:rPr lang="en-US" altLang="ja-JP" noProof="0" dirty="0"/>
              <a:t>|</a:t>
            </a:r>
            <a:r>
              <a:rPr lang="ja-JP" altLang="en-US" noProof="0" dirty="0"/>
              <a:t>メール アドレス </a:t>
            </a:r>
            <a:r>
              <a:rPr lang="en-US" altLang="ja-JP" noProof="0" dirty="0"/>
              <a:t>| Web </a:t>
            </a:r>
            <a:r>
              <a:rPr lang="ja-JP" altLang="en-US" noProof="0" dirty="0"/>
              <a:t>アドレス</a:t>
            </a:r>
          </a:p>
        </p:txBody>
      </p:sp>
    </p:spTree>
    <p:extLst>
      <p:ext uri="{BB962C8B-B14F-4D97-AF65-F5344CB8AC3E}">
        <p14:creationId xmlns:p14="http://schemas.microsoft.com/office/powerpoint/2010/main" val="357992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519728" y="10129088"/>
            <a:ext cx="1700927" cy="34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52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271939F-A004-45B4-B4F8-BE938564AB68}" type="datetime1">
              <a:rPr lang="ja-JP" altLang="en-US" noProof="0" smtClean="0"/>
              <a:t>2026/1/9</a:t>
            </a:fld>
            <a:endParaRPr lang="ja-JP" altLang="en-US" noProof="0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2504146" y="10129088"/>
            <a:ext cx="2551390" cy="34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52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5339021" y="10129088"/>
            <a:ext cx="1700927" cy="34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52">
                <a:solidFill>
                  <a:schemeClr val="tx1">
                    <a:tint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08FAEA7-0C3C-4CCF-BA6B-669D7915826F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3E6E4B3C-9A18-4004-9E7B-C553CDC79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527" y="8117478"/>
            <a:ext cx="2570610" cy="1533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-JP" altLang="en-US" noProof="0" dirty="0"/>
              <a:t>マスター テキストのスタイルを編集する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タイトル プレースホルダー 1">
            <a:extLst>
              <a:ext uri="{FF2B5EF4-FFF2-40B4-BE49-F238E27FC236}">
                <a16:creationId xmlns:a16="http://schemas.microsoft.com/office/drawing/2014/main" id="{C826F937-FF29-4221-AD0F-4A4D9090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58" y="4336391"/>
            <a:ext cx="4935382" cy="6720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rtl="0"/>
            <a:r>
              <a:rPr lang="ja-JP" altLang="en-US" noProof="0" dirty="0"/>
              <a:t>テキストを追加する</a:t>
            </a:r>
          </a:p>
        </p:txBody>
      </p:sp>
    </p:spTree>
    <p:extLst>
      <p:ext uri="{BB962C8B-B14F-4D97-AF65-F5344CB8AC3E}">
        <p14:creationId xmlns:p14="http://schemas.microsoft.com/office/powerpoint/2010/main" val="299810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</p:sldLayoutIdLst>
  <p:hf sldNum="0" hdr="0" ftr="0" dt="0"/>
  <p:txStyles>
    <p:titleStyle>
      <a:lvl1pPr algn="l" defTabSz="740241" rtl="0" eaLnBrk="1" latinLnBrk="0" hangingPunct="1">
        <a:lnSpc>
          <a:spcPct val="85000"/>
        </a:lnSpc>
        <a:spcBef>
          <a:spcPct val="0"/>
        </a:spcBef>
        <a:buNone/>
        <a:defRPr kumimoji="1" sz="4000" b="1" kern="1200" cap="all" baseline="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740241" rtl="0" eaLnBrk="1" latinLnBrk="0" hangingPunct="1">
        <a:lnSpc>
          <a:spcPct val="90000"/>
        </a:lnSpc>
        <a:spcBef>
          <a:spcPts val="809"/>
        </a:spcBef>
        <a:buFont typeface="Arial" panose="020B0604020202020204" pitchFamily="34" charset="0"/>
        <a:buNone/>
        <a:defRPr kumimoji="1" sz="1333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370120" indent="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None/>
        <a:defRPr kumimoji="1" sz="1333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740241" indent="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None/>
        <a:defRPr kumimoji="1" sz="1333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110362" indent="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None/>
        <a:defRPr kumimoji="1" sz="1333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480482" indent="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None/>
        <a:defRPr kumimoji="1" sz="1333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035663" indent="-18506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5" indent="-18506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7pPr>
      <a:lvl8pPr marL="2775905" indent="-18506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8pPr>
      <a:lvl9pPr marL="3146025" indent="-185060" algn="l" defTabSz="740241" rtl="0" eaLnBrk="1" latinLnBrk="0" hangingPunct="1">
        <a:lnSpc>
          <a:spcPct val="90000"/>
        </a:lnSpc>
        <a:spcBef>
          <a:spcPts val="405"/>
        </a:spcBef>
        <a:buFont typeface="Arial" panose="020B0604020202020204" pitchFamily="34" charset="0"/>
        <a:buChar char="•"/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1pPr>
      <a:lvl2pPr marL="370120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2pPr>
      <a:lvl3pPr marL="740241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3pPr>
      <a:lvl4pPr marL="1110362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4pPr>
      <a:lvl5pPr marL="1480482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5pPr>
      <a:lvl6pPr marL="1850602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6pPr>
      <a:lvl7pPr marL="2220723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7pPr>
      <a:lvl8pPr marL="2590843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8pPr>
      <a:lvl9pPr marL="2960965" algn="l" defTabSz="740241" rtl="0" eaLnBrk="1" latinLnBrk="0" hangingPunct="1">
        <a:defRPr kumimoji="1" sz="145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svg"/><Relationship Id="rId7" Type="http://schemas.openxmlformats.org/officeDocument/2006/relationships/hyperlink" Target="mailto:machi.kikaku.worldcafe@gmail.com" TargetMode="External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sv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E7546-12A1-ECA4-9370-A90F0E843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46201C1-7B44-64BF-8D62-F15F8982140E}"/>
              </a:ext>
            </a:extLst>
          </p:cNvPr>
          <p:cNvSpPr txBox="1"/>
          <p:nvPr/>
        </p:nvSpPr>
        <p:spPr>
          <a:xfrm>
            <a:off x="282726" y="3607001"/>
            <a:ext cx="70452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1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川崎市高津出身であり、人間国宝として陶芸史に名を刻む濱田庄司（</a:t>
            </a:r>
            <a:r>
              <a:rPr lang="en-US" altLang="ja-JP" sz="11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1894-1978</a:t>
            </a:r>
            <a:r>
              <a:rPr lang="ja-JP" altLang="en-US" sz="11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年）。彼が生涯拠点</a:t>
            </a:r>
            <a:endParaRPr lang="en-US" altLang="ja-JP" sz="11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sz="11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とした栃木県益子町のご協力を得て、陶芸の奥深い魅力を堪能できる特別イベントを開催します。</a:t>
            </a:r>
            <a:endParaRPr lang="ja-JP" altLang="en-US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64701FF2-1C27-C3E8-9842-94821A4AECEE}"/>
              </a:ext>
            </a:extLst>
          </p:cNvPr>
          <p:cNvSpPr txBox="1">
            <a:spLocks/>
          </p:cNvSpPr>
          <p:nvPr/>
        </p:nvSpPr>
        <p:spPr>
          <a:xfrm>
            <a:off x="270211" y="181759"/>
            <a:ext cx="2281277" cy="487051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>
            <a:lvl1pPr marL="0" marR="0" indent="0" algn="l" defTabSz="777240" rtl="0" eaLnBrk="1" fontAlgn="auto" latinLnBrk="0" hangingPunct="1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2400" b="1" kern="1200" cap="none" baseline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第</a:t>
            </a:r>
            <a:r>
              <a:rPr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回高津陶芸イベント</a:t>
            </a:r>
            <a:endParaRPr lang="en-US" altLang="ja-JP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A3EE844C-3B1C-D93D-08AB-63DAEED957A2}"/>
              </a:ext>
            </a:extLst>
          </p:cNvPr>
          <p:cNvSpPr/>
          <p:nvPr/>
        </p:nvSpPr>
        <p:spPr>
          <a:xfrm>
            <a:off x="358395" y="1214552"/>
            <a:ext cx="1554760" cy="409332"/>
          </a:xfrm>
          <a:prstGeom prst="wedgeEllipseCallout">
            <a:avLst>
              <a:gd name="adj1" fmla="val 6364"/>
              <a:gd name="adj2" fmla="val 695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800" b="1" dirty="0">
                <a:solidFill>
                  <a:srgbClr val="C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益子焼</a:t>
            </a:r>
          </a:p>
        </p:txBody>
      </p:sp>
      <p:sp>
        <p:nvSpPr>
          <p:cNvPr id="33" name="四角形: 対角を切り取る 32">
            <a:extLst>
              <a:ext uri="{FF2B5EF4-FFF2-40B4-BE49-F238E27FC236}">
                <a16:creationId xmlns:a16="http://schemas.microsoft.com/office/drawing/2014/main" id="{77B88BCD-A236-5ADD-E096-BFCE2072B221}"/>
              </a:ext>
            </a:extLst>
          </p:cNvPr>
          <p:cNvSpPr/>
          <p:nvPr/>
        </p:nvSpPr>
        <p:spPr>
          <a:xfrm rot="16200000" flipH="1">
            <a:off x="3793624" y="5629229"/>
            <a:ext cx="45719" cy="7092543"/>
          </a:xfrm>
          <a:prstGeom prst="snip2Diag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9A58F03-95EF-9076-C5CA-B8866EF7237B}"/>
              </a:ext>
            </a:extLst>
          </p:cNvPr>
          <p:cNvSpPr/>
          <p:nvPr/>
        </p:nvSpPr>
        <p:spPr>
          <a:xfrm>
            <a:off x="4760035" y="9239133"/>
            <a:ext cx="2802059" cy="14526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D828E0BA-2BA1-8BA7-C1CC-D78D3F194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035" y="9230690"/>
            <a:ext cx="2602719" cy="1377702"/>
          </a:xfrm>
          <a:prstGeom prst="rect">
            <a:avLst/>
          </a:prstGeom>
        </p:spPr>
      </p:pic>
      <p:sp>
        <p:nvSpPr>
          <p:cNvPr id="51" name="テキスト プレースホルダー 7">
            <a:extLst>
              <a:ext uri="{FF2B5EF4-FFF2-40B4-BE49-F238E27FC236}">
                <a16:creationId xmlns:a16="http://schemas.microsoft.com/office/drawing/2014/main" id="{D5A9B526-D1A1-EB16-7E7E-191D6AECCB8C}"/>
              </a:ext>
            </a:extLst>
          </p:cNvPr>
          <p:cNvSpPr txBox="1">
            <a:spLocks/>
          </p:cNvSpPr>
          <p:nvPr/>
        </p:nvSpPr>
        <p:spPr>
          <a:xfrm>
            <a:off x="1341650" y="10260908"/>
            <a:ext cx="1722705" cy="38352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777240" rtl="0" eaLnBrk="1" latinLnBrk="0" hangingPunct="1">
              <a:lnSpc>
                <a:spcPct val="82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600" b="1" kern="1200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400" dirty="0">
                <a:solidFill>
                  <a:srgbClr val="17839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アクセス</a:t>
            </a:r>
            <a:r>
              <a:rPr lang="en-US" altLang="ja-JP" sz="1400" dirty="0">
                <a:solidFill>
                  <a:srgbClr val="17839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MAP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0B279F-09BE-11C7-B448-C0B9954AB29E}"/>
              </a:ext>
            </a:extLst>
          </p:cNvPr>
          <p:cNvSpPr txBox="1"/>
          <p:nvPr/>
        </p:nvSpPr>
        <p:spPr>
          <a:xfrm>
            <a:off x="226178" y="9364541"/>
            <a:ext cx="46506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2026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2000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defRPr/>
            </a:pPr>
            <a:r>
              <a:rPr lang="ja-JP" altLang="en-US" sz="20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川崎市大山街道ふるさと館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D99BACB-8A2A-FFEF-6F00-10D2D7EDD733}"/>
              </a:ext>
            </a:extLst>
          </p:cNvPr>
          <p:cNvSpPr/>
          <p:nvPr/>
        </p:nvSpPr>
        <p:spPr>
          <a:xfrm>
            <a:off x="5441408" y="83422"/>
            <a:ext cx="1921346" cy="84201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Bef>
                <a:spcPts val="600"/>
              </a:spcBef>
            </a:pPr>
            <a:r>
              <a:rPr kumimoji="1" lang="ja-JP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企画協力</a:t>
            </a:r>
            <a:endParaRPr kumimoji="1" lang="en-US" altLang="ja-JP" sz="10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spcBef>
                <a:spcPts val="600"/>
              </a:spcBef>
            </a:pPr>
            <a:r>
              <a:rPr kumimoji="1" lang="ja-JP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・栃木県益子町観光商工課</a:t>
            </a:r>
            <a:endParaRPr kumimoji="1" lang="en-US" altLang="ja-JP" sz="10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zh-TW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益子焼伝統工芸士会</a:t>
            </a:r>
            <a:endParaRPr kumimoji="1" lang="en-US" altLang="zh-TW" sz="10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zh-TW" altLang="en-US" sz="10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益子焼関係団体振興協議会</a:t>
            </a:r>
            <a:endParaRPr kumimoji="1" lang="en-US" altLang="zh-TW" sz="1000" dirty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4" name="テキスト プレースホルダー 63">
            <a:extLst>
              <a:ext uri="{FF2B5EF4-FFF2-40B4-BE49-F238E27FC236}">
                <a16:creationId xmlns:a16="http://schemas.microsoft.com/office/drawing/2014/main" id="{B2DAACCB-F9EA-F6C0-7CA7-E697EFD2B86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278031" y="8639692"/>
            <a:ext cx="6059170" cy="472175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>
              <a:lnSpc>
                <a:spcPct val="100000"/>
              </a:lnSpc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「お客さんにほっこり温かな気持ちで家路について欲しい。」そんな想いの店舗が揃いました。手作りの食品、雑貨、ワークショップです。こちらもぜひお立ち寄り下さい。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C8223C2-EF19-DB2B-688F-0742441E7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95" y="8399860"/>
            <a:ext cx="671579" cy="5857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テキスト プレースホルダー 67">
            <a:extLst>
              <a:ext uri="{FF2B5EF4-FFF2-40B4-BE49-F238E27FC236}">
                <a16:creationId xmlns:a16="http://schemas.microsoft.com/office/drawing/2014/main" id="{BB6E3B9A-B3B3-16C8-A4C8-267945DEE2DA}"/>
              </a:ext>
            </a:extLst>
          </p:cNvPr>
          <p:cNvSpPr txBox="1">
            <a:spLocks/>
          </p:cNvSpPr>
          <p:nvPr/>
        </p:nvSpPr>
        <p:spPr>
          <a:xfrm>
            <a:off x="282726" y="7357391"/>
            <a:ext cx="7045211" cy="9387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740241" rtl="0" eaLnBrk="1" latinLnBrk="0" hangingPunct="1">
              <a:lnSpc>
                <a:spcPct val="90000"/>
              </a:lnSpc>
              <a:spcBef>
                <a:spcPts val="809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370120" indent="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740241" indent="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10362" indent="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80482" indent="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None/>
              <a:defRPr kumimoji="1" sz="1333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035663" indent="-18506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defRPr kumimoji="1" sz="14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5785" indent="-18506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defRPr kumimoji="1" sz="14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75905" indent="-18506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defRPr kumimoji="1" sz="14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46025" indent="-185060" algn="l" defTabSz="740241" rtl="0" eaLnBrk="1" latinLnBrk="0" hangingPunct="1">
              <a:lnSpc>
                <a:spcPct val="90000"/>
              </a:lnSpc>
              <a:spcBef>
                <a:spcPts val="405"/>
              </a:spcBef>
              <a:buFont typeface="Arial" panose="020B0604020202020204" pitchFamily="34" charset="0"/>
              <a:buChar char="•"/>
              <a:defRPr kumimoji="1" sz="14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また、毎回人気の益子焼の伝統工芸士を講師に迎えた陶芸体験ワークショップを開催します。</a:t>
            </a:r>
            <a:b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毎年大人気の手回しロクロのワークショップに加え、今回は、電動ロクロを使った陶芸作品づくりが楽しめる企画もあります。初心者の方も楽しめる内容です。本格的な陶芸制作を体験してみませんか。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芸術性豊かな陶芸の世界に触れる大変貴重な機会を、ぜひお見逃しなく！</a:t>
            </a:r>
            <a:endParaRPr lang="en-US" altLang="ja-JP" sz="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36226B8-CFEE-6A80-EF0D-19E55A55AED9}"/>
              </a:ext>
            </a:extLst>
          </p:cNvPr>
          <p:cNvSpPr txBox="1"/>
          <p:nvPr/>
        </p:nvSpPr>
        <p:spPr>
          <a:xfrm>
            <a:off x="926299" y="7067001"/>
            <a:ext cx="214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1" dirty="0">
                <a:solidFill>
                  <a:srgbClr val="C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新企画　電動ロクロ</a:t>
            </a:r>
            <a:endParaRPr lang="en-US" altLang="ja-JP" sz="1200" b="1" dirty="0">
              <a:solidFill>
                <a:srgbClr val="C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タイトル 26">
            <a:extLst>
              <a:ext uri="{FF2B5EF4-FFF2-40B4-BE49-F238E27FC236}">
                <a16:creationId xmlns:a16="http://schemas.microsoft.com/office/drawing/2014/main" id="{630E39DC-0839-E3E8-1D7E-3CEDEF9AE694}"/>
              </a:ext>
            </a:extLst>
          </p:cNvPr>
          <p:cNvSpPr txBox="1">
            <a:spLocks/>
          </p:cNvSpPr>
          <p:nvPr/>
        </p:nvSpPr>
        <p:spPr>
          <a:xfrm>
            <a:off x="517280" y="1799937"/>
            <a:ext cx="6507183" cy="8420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740241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kumimoji="1" sz="4000" b="1" kern="1200" cap="all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algn="ctr"/>
            <a:r>
              <a:rPr lang="ja-JP" altLang="en-US" dirty="0">
                <a:solidFill>
                  <a:srgbClr val="C00000"/>
                </a:solidFill>
                <a:effectLst>
                  <a:glow rad="101600">
                    <a:schemeClr val="bg1">
                      <a:alpha val="95000"/>
                    </a:schemeClr>
                  </a:glo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陶芸匠フェスタ</a:t>
            </a:r>
            <a:r>
              <a:rPr lang="en-US" altLang="ja-JP" dirty="0">
                <a:solidFill>
                  <a:srgbClr val="C00000"/>
                </a:solidFill>
                <a:effectLst>
                  <a:glow rad="101600">
                    <a:schemeClr val="bg1">
                      <a:alpha val="95000"/>
                    </a:schemeClr>
                  </a:glo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cap="none" dirty="0">
                <a:solidFill>
                  <a:srgbClr val="C00000"/>
                </a:solidFill>
                <a:effectLst>
                  <a:glow rad="101600">
                    <a:schemeClr val="bg1">
                      <a:alpha val="95000"/>
                    </a:schemeClr>
                  </a:glo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 </a:t>
            </a:r>
            <a:r>
              <a:rPr lang="ja-JP" altLang="en-US" dirty="0">
                <a:solidFill>
                  <a:srgbClr val="C00000"/>
                </a:solidFill>
                <a:effectLst>
                  <a:glow rad="101600">
                    <a:schemeClr val="bg1">
                      <a:alpha val="95000"/>
                    </a:schemeClr>
                  </a:glow>
                </a:effectLst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高津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F0679CB-A2FF-5A74-D3A8-B754E023898F}"/>
              </a:ext>
            </a:extLst>
          </p:cNvPr>
          <p:cNvGrpSpPr/>
          <p:nvPr/>
        </p:nvGrpSpPr>
        <p:grpSpPr>
          <a:xfrm>
            <a:off x="809701" y="2677703"/>
            <a:ext cx="5922341" cy="332323"/>
            <a:chOff x="437516" y="1941552"/>
            <a:chExt cx="5922341" cy="332323"/>
          </a:xfrm>
        </p:grpSpPr>
        <p:sp>
          <p:nvSpPr>
            <p:cNvPr id="20" name="テキスト プレースホルダー 8">
              <a:extLst>
                <a:ext uri="{FF2B5EF4-FFF2-40B4-BE49-F238E27FC236}">
                  <a16:creationId xmlns:a16="http://schemas.microsoft.com/office/drawing/2014/main" id="{DED6BF5C-22D3-0327-BF15-FBFDD174F393}"/>
                </a:ext>
              </a:extLst>
            </p:cNvPr>
            <p:cNvSpPr txBox="1">
              <a:spLocks/>
            </p:cNvSpPr>
            <p:nvPr/>
          </p:nvSpPr>
          <p:spPr>
            <a:xfrm>
              <a:off x="437516" y="1941552"/>
              <a:ext cx="5922341" cy="332323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>
              <a:lvl1pPr marL="0" marR="0" indent="0" algn="l" defTabSz="777240" rtl="0" eaLnBrk="1" fontAlgn="auto" latinLnBrk="0" hangingPunct="1">
                <a:lnSpc>
                  <a:spcPct val="8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kumimoji="1" sz="2400" b="1" kern="1200" cap="none" baseline="0">
                  <a:solidFill>
                    <a:schemeClr val="accent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1pPr>
              <a:lvl2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2pPr>
              <a:lvl3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3pPr>
              <a:lvl4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4pPr>
              <a:lvl5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5pPr>
              <a:lvl6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ja-JP" altLang="en-US" sz="1600" dirty="0">
                  <a:ln w="28575">
                    <a:solidFill>
                      <a:srgbClr val="000000"/>
                    </a:solidFill>
                  </a:ln>
                  <a:solidFill>
                    <a:srgbClr val="00000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高津の地で体感する、人間国宝の伝統と本場「益子焼」の魅力</a:t>
              </a:r>
            </a:p>
          </p:txBody>
        </p:sp>
        <p:sp>
          <p:nvSpPr>
            <p:cNvPr id="24" name="テキスト プレースホルダー 8">
              <a:extLst>
                <a:ext uri="{FF2B5EF4-FFF2-40B4-BE49-F238E27FC236}">
                  <a16:creationId xmlns:a16="http://schemas.microsoft.com/office/drawing/2014/main" id="{52E6706D-8F2A-FF67-1F27-2908A82D912E}"/>
                </a:ext>
              </a:extLst>
            </p:cNvPr>
            <p:cNvSpPr txBox="1">
              <a:spLocks/>
            </p:cNvSpPr>
            <p:nvPr/>
          </p:nvSpPr>
          <p:spPr>
            <a:xfrm>
              <a:off x="445697" y="1941752"/>
              <a:ext cx="5876949" cy="198924"/>
            </a:xfrm>
            <a:prstGeom prst="rect">
              <a:avLst/>
            </a:prstGeom>
          </p:spPr>
          <p:txBody>
            <a:bodyPr lIns="0" tIns="0" rIns="0" bIns="0" rtlCol="0" anchor="t">
              <a:noAutofit/>
            </a:bodyPr>
            <a:lstStyle>
              <a:lvl1pPr marL="0" marR="0" indent="0" algn="l" defTabSz="777240" rtl="0" eaLnBrk="1" fontAlgn="auto" latinLnBrk="0" hangingPunct="1">
                <a:lnSpc>
                  <a:spcPct val="8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 kumimoji="1" sz="2400" b="1" kern="1200" cap="none" baseline="0">
                  <a:solidFill>
                    <a:schemeClr val="accent1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1pPr>
              <a:lvl2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2pPr>
              <a:lvl3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3pPr>
              <a:lvl4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4pPr>
              <a:lvl5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+mn-cs"/>
                </a:defRPr>
              </a:lvl5pPr>
              <a:lvl6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77724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r>
                <a:rPr lang="ja-JP" altLang="en-US" sz="1600" dirty="0">
                  <a:solidFill>
                    <a:schemeClr val="bg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高津の地で体感する、人間国宝の伝統と本場「益子焼」の魅力</a:t>
              </a:r>
              <a:endParaRPr lang="en-US" altLang="ja-JP" sz="1600" dirty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sp>
        <p:nvSpPr>
          <p:cNvPr id="2" name="テキスト プレースホルダー 42">
            <a:extLst>
              <a:ext uri="{FF2B5EF4-FFF2-40B4-BE49-F238E27FC236}">
                <a16:creationId xmlns:a16="http://schemas.microsoft.com/office/drawing/2014/main" id="{89EFDF05-A42F-9921-C1C8-C2444EF2C916}"/>
              </a:ext>
            </a:extLst>
          </p:cNvPr>
          <p:cNvSpPr txBox="1">
            <a:spLocks/>
          </p:cNvSpPr>
          <p:nvPr/>
        </p:nvSpPr>
        <p:spPr>
          <a:xfrm>
            <a:off x="2079649" y="8360105"/>
            <a:ext cx="3703077" cy="29870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777240" rtl="0" eaLnBrk="1" latinLnBrk="0" hangingPunct="1">
              <a:lnSpc>
                <a:spcPct val="82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600" b="1" kern="1200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１階野外広場でクラフトほっこりマーケット同時開催</a:t>
            </a:r>
          </a:p>
        </p:txBody>
      </p:sp>
      <p:sp>
        <p:nvSpPr>
          <p:cNvPr id="18" name="テキスト プレースホルダー 42">
            <a:extLst>
              <a:ext uri="{FF2B5EF4-FFF2-40B4-BE49-F238E27FC236}">
                <a16:creationId xmlns:a16="http://schemas.microsoft.com/office/drawing/2014/main" id="{94EA6F55-C2BC-446C-2414-A667EE2BB283}"/>
              </a:ext>
            </a:extLst>
          </p:cNvPr>
          <p:cNvSpPr txBox="1">
            <a:spLocks/>
          </p:cNvSpPr>
          <p:nvPr/>
        </p:nvSpPr>
        <p:spPr>
          <a:xfrm>
            <a:off x="2520988" y="4313696"/>
            <a:ext cx="2805078" cy="34730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ctr" defTabSz="777240" rtl="0" eaLnBrk="1" latinLnBrk="0" hangingPunct="1">
              <a:lnSpc>
                <a:spcPct val="82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600" b="1" kern="1200" cap="none" baseline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陶芸</a:t>
            </a:r>
            <a:r>
              <a:rPr lang="ja-JP" altLang="en-US" sz="1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体験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ワークショップ</a:t>
            </a:r>
            <a:endParaRPr lang="ja-JP" altLang="en-US" sz="1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9" name="図 8" descr="人, テーブル, 子供, グループ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C99DFE5-9AAB-7B84-3A40-972A464AA0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712" y="4724987"/>
            <a:ext cx="2251541" cy="2251541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9A7064F1-84B2-A194-CDB9-049CDC578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82" y="4724987"/>
            <a:ext cx="2358456" cy="23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4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2E8DC-439A-7C86-2031-769B3CDF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四角形: 対角を切り取る 30">
            <a:extLst>
              <a:ext uri="{FF2B5EF4-FFF2-40B4-BE49-F238E27FC236}">
                <a16:creationId xmlns:a16="http://schemas.microsoft.com/office/drawing/2014/main" id="{DFB265A9-D910-1718-5B25-F803DE40F54D}"/>
              </a:ext>
            </a:extLst>
          </p:cNvPr>
          <p:cNvSpPr/>
          <p:nvPr/>
        </p:nvSpPr>
        <p:spPr>
          <a:xfrm>
            <a:off x="745413" y="280992"/>
            <a:ext cx="6402708" cy="309788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algn="ctr" defTabSz="740241">
              <a:spcBef>
                <a:spcPts val="600"/>
              </a:spcBef>
            </a:pPr>
            <a:r>
              <a:rPr kumimoji="1" lang="ja-JP" altLang="en-US" sz="11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陶芸</a:t>
            </a:r>
            <a:r>
              <a:rPr kumimoji="1" lang="ja-JP" altLang="en-US" sz="14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体験</a:t>
            </a:r>
            <a:r>
              <a:rPr kumimoji="1" lang="ja-JP" altLang="en-US" sz="11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ワークショップ</a:t>
            </a:r>
            <a:r>
              <a:rPr kumimoji="1" lang="ja-JP" altLang="en-US" sz="12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</a:t>
            </a:r>
            <a:r>
              <a:rPr kumimoji="1" lang="ja-JP" altLang="en-US" sz="14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</a:t>
            </a:r>
            <a:r>
              <a:rPr kumimoji="1" lang="en-US" altLang="zh-CN" sz="105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《</a:t>
            </a:r>
            <a:r>
              <a:rPr kumimoji="1" lang="zh-CN" altLang="en-US" sz="105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事前申込制</a:t>
            </a:r>
            <a:r>
              <a:rPr kumimoji="1" lang="en-US" altLang="zh-CN" sz="105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》</a:t>
            </a:r>
            <a:endParaRPr kumimoji="1" lang="ja-JP" altLang="en-US" sz="1050" b="1" dirty="0">
              <a:solidFill>
                <a:schemeClr val="tx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 defTabSz="740241">
              <a:lnSpc>
                <a:spcPct val="82000"/>
              </a:lnSpc>
            </a:pPr>
            <a:endParaRPr kumimoji="1" lang="ja-JP" altLang="en-US" sz="1400" b="1" dirty="0">
              <a:solidFill>
                <a:schemeClr val="tx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A46F512F-861F-4F8D-DA8D-6AF1066AE0A1}"/>
              </a:ext>
            </a:extLst>
          </p:cNvPr>
          <p:cNvGrpSpPr>
            <a:grpSpLocks noChangeAspect="1"/>
          </p:cNvGrpSpPr>
          <p:nvPr/>
        </p:nvGrpSpPr>
        <p:grpSpPr>
          <a:xfrm>
            <a:off x="225877" y="78076"/>
            <a:ext cx="835887" cy="721269"/>
            <a:chOff x="257056" y="724273"/>
            <a:chExt cx="1326576" cy="1144674"/>
          </a:xfrm>
        </p:grpSpPr>
        <p:grpSp>
          <p:nvGrpSpPr>
            <p:cNvPr id="4" name="グループ 16">
              <a:extLst>
                <a:ext uri="{FF2B5EF4-FFF2-40B4-BE49-F238E27FC236}">
                  <a16:creationId xmlns:a16="http://schemas.microsoft.com/office/drawing/2014/main" id="{4B4A467E-164E-7DB1-6562-8B16F0273CEB}"/>
                </a:ext>
              </a:extLst>
            </p:cNvPr>
            <p:cNvGrpSpPr/>
            <p:nvPr/>
          </p:nvGrpSpPr>
          <p:grpSpPr>
            <a:xfrm>
              <a:off x="257056" y="724273"/>
              <a:ext cx="1326576" cy="1144674"/>
              <a:chOff x="867110" y="6005635"/>
              <a:chExt cx="1326576" cy="1144674"/>
            </a:xfrm>
          </p:grpSpPr>
          <p:pic>
            <p:nvPicPr>
              <p:cNvPr id="5" name="グラフィック 15">
                <a:extLst>
                  <a:ext uri="{FF2B5EF4-FFF2-40B4-BE49-F238E27FC236}">
                    <a16:creationId xmlns:a16="http://schemas.microsoft.com/office/drawing/2014/main" id="{CA681D54-36A5-C945-C916-0F87A0AC47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44947" y="6005635"/>
                <a:ext cx="1148739" cy="997019"/>
              </a:xfrm>
              <a:prstGeom prst="rect">
                <a:avLst/>
              </a:prstGeom>
            </p:spPr>
          </p:pic>
          <p:pic>
            <p:nvPicPr>
              <p:cNvPr id="6" name="グラフィック 14">
                <a:extLst>
                  <a:ext uri="{FF2B5EF4-FFF2-40B4-BE49-F238E27FC236}">
                    <a16:creationId xmlns:a16="http://schemas.microsoft.com/office/drawing/2014/main" id="{C553C476-06C9-9D14-62EB-17D3105D563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67110" y="6066593"/>
                <a:ext cx="1257111" cy="1083716"/>
              </a:xfrm>
              <a:prstGeom prst="rect">
                <a:avLst/>
              </a:prstGeom>
            </p:spPr>
          </p:pic>
        </p:grpSp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A86C8D6-4A91-FA97-2BDC-6C4CC8CCA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421" y="1091944"/>
              <a:ext cx="876306" cy="641859"/>
            </a:xfrm>
            <a:prstGeom prst="rect">
              <a:avLst/>
            </a:prstGeom>
          </p:spPr>
        </p:pic>
      </p:grpSp>
      <p:sp>
        <p:nvSpPr>
          <p:cNvPr id="35" name="テキスト プレースホルダー 6">
            <a:extLst>
              <a:ext uri="{FF2B5EF4-FFF2-40B4-BE49-F238E27FC236}">
                <a16:creationId xmlns:a16="http://schemas.microsoft.com/office/drawing/2014/main" id="{D911DC62-1FB4-404B-6FC2-E7720EA03FDB}"/>
              </a:ext>
            </a:extLst>
          </p:cNvPr>
          <p:cNvSpPr txBox="1">
            <a:spLocks/>
          </p:cNvSpPr>
          <p:nvPr/>
        </p:nvSpPr>
        <p:spPr>
          <a:xfrm>
            <a:off x="96581" y="4832858"/>
            <a:ext cx="2381122" cy="2582121"/>
          </a:xfrm>
          <a:prstGeom prst="rect">
            <a:avLst/>
          </a:prstGeom>
        </p:spPr>
        <p:txBody>
          <a:bodyPr vert="horz" lIns="87082" tIns="43541" rIns="87082" bIns="43541" rtlCol="0">
            <a:noAutofit/>
          </a:bodyPr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日程：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時間：第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10:00-11:00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11:20-12:20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13:20-14:20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14:40-15:40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16:00-17:00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場所：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階 イベントホール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定員：各回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50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費用：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4,500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締切：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土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申込：上記共通申込フォーム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lang="ja-JP" altLang="en-US" sz="1000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完成品は着払いにて配送いたします。</a:t>
            </a:r>
            <a:endParaRPr lang="en-US" altLang="ja-JP" sz="1000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endParaRPr lang="en-US" altLang="ja-JP" sz="7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プレースホルダー 68">
            <a:extLst>
              <a:ext uri="{FF2B5EF4-FFF2-40B4-BE49-F238E27FC236}">
                <a16:creationId xmlns:a16="http://schemas.microsoft.com/office/drawing/2014/main" id="{BC16F536-7A15-2781-F479-FE036F3C91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8999" y="10122573"/>
            <a:ext cx="3386345" cy="458056"/>
          </a:xfrm>
        </p:spPr>
        <p:txBody>
          <a:bodyPr rtlCol="0"/>
          <a:lstStyle/>
          <a:p>
            <a:pPr lvl="0" algn="l" rtl="0">
              <a:lnSpc>
                <a:spcPct val="100000"/>
              </a:lnSpc>
            </a:pP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企画・運営：高津陶芸イベント実行委員会</a:t>
            </a:r>
            <a:endParaRPr lang="en-US" altLang="ja-JP" sz="9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0" algn="l" rtl="0">
              <a:lnSpc>
                <a:spcPct val="100000"/>
              </a:lnSpc>
            </a:pPr>
            <a:r>
              <a:rPr kumimoji="1" lang="ja-JP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後援：川崎市高津区役所</a:t>
            </a:r>
            <a:endParaRPr kumimoji="1" lang="en-US" altLang="ja-JP" sz="900" b="0" i="0" u="none" strike="noStrike" kern="1200" cap="none" spc="0" normalizeH="0" baseline="0" noProof="0" dirty="0">
              <a:ln>
                <a:noFill/>
              </a:ln>
              <a:solidFill>
                <a:srgbClr val="1C1C1C"/>
              </a:solidFill>
              <a:effectLst/>
              <a:uLnTx/>
              <a:uFillTx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00000"/>
              </a:lnSpc>
            </a:pPr>
            <a:r>
              <a:rPr lang="ja-JP" altLang="en-US" sz="900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お問い合わせ</a:t>
            </a:r>
            <a:r>
              <a:rPr lang="en-US" altLang="ja-JP" sz="900" b="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</a:t>
            </a:r>
            <a:r>
              <a:rPr kumimoji="0" lang="ja-JP" altLang="ja-JP" sz="900" b="0" i="0" u="none" strike="noStrike" cap="none" normalizeH="0" baseline="0" dirty="0">
                <a:ln>
                  <a:noFill/>
                </a:ln>
                <a:solidFill>
                  <a:srgbClr val="1155CC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Arial" panose="020B0604020202020204" pitchFamily="34" charset="0"/>
                <a:hlinkClick r:id="rId7"/>
              </a:rPr>
              <a:t>machi.kikaku.worldcafe@gmail.com</a:t>
            </a:r>
            <a:endParaRPr kumimoji="0" lang="ja-JP" altLang="ja-JP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テキスト プレースホルダー 63">
            <a:extLst>
              <a:ext uri="{FF2B5EF4-FFF2-40B4-BE49-F238E27FC236}">
                <a16:creationId xmlns:a16="http://schemas.microsoft.com/office/drawing/2014/main" id="{338A0F83-83F1-076A-EFB0-1349360D2EC6}"/>
              </a:ext>
            </a:extLst>
          </p:cNvPr>
          <p:cNvSpPr txBox="1">
            <a:spLocks/>
          </p:cNvSpPr>
          <p:nvPr/>
        </p:nvSpPr>
        <p:spPr>
          <a:xfrm>
            <a:off x="904179" y="8956963"/>
            <a:ext cx="6090827" cy="1003816"/>
          </a:xfrm>
          <a:prstGeom prst="rect">
            <a:avLst/>
          </a:prstGeom>
        </p:spPr>
        <p:txBody>
          <a:bodyPr vert="horz" lIns="87082" tIns="43541" rIns="87082" bIns="43541" rtlCol="0">
            <a:noAutofit/>
          </a:bodyPr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ほっこり温かなお店が集まりました。ぜひ、お店の方との会話を楽しみながら、優しい品々をお手に取ってみてください。 </a:t>
            </a:r>
            <a:endParaRPr lang="en-US" altLang="ja-JP" sz="105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・ねこのたいやき「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TONSUKE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@taiyaki_tonsuke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蒸しパン工房 「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moimoi.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@moimoi.202308</a:t>
            </a:r>
            <a:b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・ニット雑貨 「うちだや」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@rie.utida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たのしいペーパークラフト「かわいい動物さんチャーム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ws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@chiyo.crafts</a:t>
            </a:r>
            <a:b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felix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「キッズ雑貨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ws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@felix.shop3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Flebonatun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＆みん森 「木材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ws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@flebonatun</a:t>
            </a:r>
            <a:b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・すなほ屋「アロマクラフト</a:t>
            </a:r>
            <a:r>
              <a:rPr lang="en-US" altLang="ja-JP" sz="9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ws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@naho_sunaoya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自作の陶磁器販売 「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Rumiko〜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陶磁器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〜</a:t>
            </a:r>
            <a:r>
              <a:rPr lang="ja-JP" altLang="en-US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 </a:t>
            </a:r>
            <a:r>
              <a:rPr lang="en-US" altLang="ja-JP" sz="9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@rumiko315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四角形: 対角を切り取る 32">
            <a:extLst>
              <a:ext uri="{FF2B5EF4-FFF2-40B4-BE49-F238E27FC236}">
                <a16:creationId xmlns:a16="http://schemas.microsoft.com/office/drawing/2014/main" id="{6178A087-C57A-EC6E-7CD6-E9E211DB5263}"/>
              </a:ext>
            </a:extLst>
          </p:cNvPr>
          <p:cNvSpPr/>
          <p:nvPr/>
        </p:nvSpPr>
        <p:spPr>
          <a:xfrm>
            <a:off x="877485" y="8552261"/>
            <a:ext cx="6270636" cy="315163"/>
          </a:xfrm>
          <a:prstGeom prst="snip2Diag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 defTabSz="740241">
              <a:lnSpc>
                <a:spcPct val="82000"/>
              </a:lnSpc>
            </a:pPr>
            <a:r>
              <a:rPr kumimoji="1" lang="ja-JP" altLang="en-US" sz="11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クラフト</a:t>
            </a:r>
            <a:r>
              <a:rPr kumimoji="1" lang="ja-JP" altLang="en-US" sz="14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ほっこり</a:t>
            </a:r>
            <a:r>
              <a:rPr kumimoji="1" lang="ja-JP" altLang="en-US" sz="1100" b="1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マーケット</a:t>
            </a:r>
            <a:endParaRPr kumimoji="1" lang="ja-JP" altLang="en-US" sz="1400" b="1" dirty="0">
              <a:solidFill>
                <a:schemeClr val="tx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56734A95-9E7B-1795-EBB0-7541527ABCCC}"/>
              </a:ext>
            </a:extLst>
          </p:cNvPr>
          <p:cNvGrpSpPr/>
          <p:nvPr/>
        </p:nvGrpSpPr>
        <p:grpSpPr>
          <a:xfrm>
            <a:off x="4807671" y="4896635"/>
            <a:ext cx="2504158" cy="2884158"/>
            <a:chOff x="2191811" y="5695164"/>
            <a:chExt cx="2485895" cy="2863123"/>
          </a:xfrm>
        </p:grpSpPr>
        <p:pic>
          <p:nvPicPr>
            <p:cNvPr id="121" name="図 120">
              <a:extLst>
                <a:ext uri="{FF2B5EF4-FFF2-40B4-BE49-F238E27FC236}">
                  <a16:creationId xmlns:a16="http://schemas.microsoft.com/office/drawing/2014/main" id="{C1279D85-47EF-A815-554A-B57130D81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399000" y="5706476"/>
              <a:ext cx="1022986" cy="875085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15" name="図 114">
              <a:extLst>
                <a:ext uri="{FF2B5EF4-FFF2-40B4-BE49-F238E27FC236}">
                  <a16:creationId xmlns:a16="http://schemas.microsoft.com/office/drawing/2014/main" id="{DC1E68E3-E34F-BEA9-DA4A-38FBCAB1C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306129" y="6696233"/>
              <a:ext cx="976837" cy="80238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17" name="図 116">
              <a:extLst>
                <a:ext uri="{FF2B5EF4-FFF2-40B4-BE49-F238E27FC236}">
                  <a16:creationId xmlns:a16="http://schemas.microsoft.com/office/drawing/2014/main" id="{FDF11448-C013-D238-DEB2-440AF9B5D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191811" y="7724619"/>
              <a:ext cx="1233992" cy="73648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23" name="図 122">
              <a:extLst>
                <a:ext uri="{FF2B5EF4-FFF2-40B4-BE49-F238E27FC236}">
                  <a16:creationId xmlns:a16="http://schemas.microsoft.com/office/drawing/2014/main" id="{0838CD26-7643-EA9A-5C00-DDB8E696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06129" y="5695164"/>
              <a:ext cx="1040162" cy="906702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25" name="図 124">
              <a:extLst>
                <a:ext uri="{FF2B5EF4-FFF2-40B4-BE49-F238E27FC236}">
                  <a16:creationId xmlns:a16="http://schemas.microsoft.com/office/drawing/2014/main" id="{7420588A-FD91-41CF-0F82-53E1B57EC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331215" y="6696233"/>
              <a:ext cx="1170433" cy="79239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pic>
          <p:nvPicPr>
            <p:cNvPr id="127" name="図 126">
              <a:extLst>
                <a:ext uri="{FF2B5EF4-FFF2-40B4-BE49-F238E27FC236}">
                  <a16:creationId xmlns:a16="http://schemas.microsoft.com/office/drawing/2014/main" id="{6A42C999-A7C5-C133-033C-50B1EE915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507273" y="7699637"/>
              <a:ext cx="1170433" cy="85865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DC044580-41C5-D749-0DCA-CE934D873399}"/>
              </a:ext>
            </a:extLst>
          </p:cNvPr>
          <p:cNvSpPr txBox="1"/>
          <p:nvPr/>
        </p:nvSpPr>
        <p:spPr>
          <a:xfrm>
            <a:off x="903259" y="755462"/>
            <a:ext cx="6154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初めての方や親子も気軽に参加できる体験ワークショップ。益子焼の伝統工芸士を講師に迎え、益子の粘土でロクロを使い器やお皿を作ります。仕上げは益子の窯で行い、完成品は約</a:t>
            </a:r>
            <a:r>
              <a:rPr lang="en-US" altLang="ja-JP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2〜3</a:t>
            </a:r>
            <a:r>
              <a:rPr lang="ja-JP" altLang="en-US" sz="1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か月後にお届け。作品づくりと共に思い出作りもお楽しみください！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A0DCB1BD-2206-386D-4676-B87A6B83804E}"/>
              </a:ext>
            </a:extLst>
          </p:cNvPr>
          <p:cNvGrpSpPr/>
          <p:nvPr/>
        </p:nvGrpSpPr>
        <p:grpSpPr>
          <a:xfrm>
            <a:off x="2834072" y="7441267"/>
            <a:ext cx="1127692" cy="866223"/>
            <a:chOff x="5918996" y="7829778"/>
            <a:chExt cx="1127692" cy="866223"/>
          </a:xfrm>
        </p:grpSpPr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C4C4F7F2-18EC-1061-C327-14231A061082}"/>
                </a:ext>
              </a:extLst>
            </p:cNvPr>
            <p:cNvSpPr txBox="1"/>
            <p:nvPr/>
          </p:nvSpPr>
          <p:spPr>
            <a:xfrm>
              <a:off x="5918996" y="8480557"/>
              <a:ext cx="11276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800" dirty="0">
                  <a:solidFill>
                    <a:schemeClr val="tx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共通申込フォーム</a:t>
              </a:r>
              <a:endParaRPr kumimoji="1" lang="en-US" altLang="ja-JP" sz="800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FAE3CBA4-ECD2-2FF9-5B6D-58744C0473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54180" y="7829778"/>
              <a:ext cx="650778" cy="65077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100" dirty="0">
                  <a:solidFill>
                    <a:srgbClr val="00000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QR</a:t>
              </a:r>
              <a:endParaRPr kumimoji="1" lang="ja-JP" altLang="en-US" sz="1100" dirty="0">
                <a:solidFill>
                  <a:srgbClr val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pic>
          <p:nvPicPr>
            <p:cNvPr id="36" name="図 35" descr="QR コード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9520FF4C-DFC4-0B8F-1945-BB2450925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64789" y="7843745"/>
              <a:ext cx="626197" cy="626197"/>
            </a:xfrm>
            <a:prstGeom prst="rect">
              <a:avLst/>
            </a:prstGeom>
          </p:spPr>
        </p:pic>
      </p:grp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304BC9B6-72D1-6031-B452-AE10F768AAFC}"/>
              </a:ext>
            </a:extLst>
          </p:cNvPr>
          <p:cNvSpPr txBox="1">
            <a:spLocks/>
          </p:cNvSpPr>
          <p:nvPr/>
        </p:nvSpPr>
        <p:spPr>
          <a:xfrm>
            <a:off x="5195672" y="10266409"/>
            <a:ext cx="2011449" cy="215493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>
            <a:lvl1pPr marL="0" marR="0" indent="0" algn="l" defTabSz="777240" rtl="0" eaLnBrk="1" fontAlgn="auto" latinLnBrk="0" hangingPunct="1">
              <a:lnSpc>
                <a:spcPct val="8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2400" b="1" kern="1200" cap="none" baseline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0" indent="0" algn="l" defTabSz="77724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defRPr/>
            </a:pPr>
            <a:r>
              <a:rPr lang="en-US" altLang="ja-JP" sz="900" b="0" u="sng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2023</a:t>
            </a:r>
            <a:r>
              <a:rPr lang="ja-JP" altLang="en-US" sz="900" b="0" u="sng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年度まちの企画室 実施企画</a:t>
            </a:r>
            <a:endParaRPr lang="en-US" altLang="ja-JP" sz="900" b="0" u="sng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59" name="グループ化 58">
            <a:extLst>
              <a:ext uri="{FF2B5EF4-FFF2-40B4-BE49-F238E27FC236}">
                <a16:creationId xmlns:a16="http://schemas.microsoft.com/office/drawing/2014/main" id="{23623D08-5B16-AF8E-AEEA-A9033CD1B496}"/>
              </a:ext>
            </a:extLst>
          </p:cNvPr>
          <p:cNvGrpSpPr>
            <a:grpSpLocks noChangeAspect="1"/>
          </p:cNvGrpSpPr>
          <p:nvPr/>
        </p:nvGrpSpPr>
        <p:grpSpPr>
          <a:xfrm>
            <a:off x="221646" y="8333561"/>
            <a:ext cx="835887" cy="721269"/>
            <a:chOff x="257056" y="724273"/>
            <a:chExt cx="1326576" cy="1144674"/>
          </a:xfrm>
        </p:grpSpPr>
        <p:grpSp>
          <p:nvGrpSpPr>
            <p:cNvPr id="60" name="グループ 16">
              <a:extLst>
                <a:ext uri="{FF2B5EF4-FFF2-40B4-BE49-F238E27FC236}">
                  <a16:creationId xmlns:a16="http://schemas.microsoft.com/office/drawing/2014/main" id="{844CA24C-1019-1B52-8E8A-57A19EB29887}"/>
                </a:ext>
              </a:extLst>
            </p:cNvPr>
            <p:cNvGrpSpPr/>
            <p:nvPr/>
          </p:nvGrpSpPr>
          <p:grpSpPr>
            <a:xfrm>
              <a:off x="257056" y="724273"/>
              <a:ext cx="1326576" cy="1144674"/>
              <a:chOff x="867110" y="6005635"/>
              <a:chExt cx="1326576" cy="1144674"/>
            </a:xfrm>
          </p:grpSpPr>
          <p:pic>
            <p:nvPicPr>
              <p:cNvPr id="62" name="グラフィック 15">
                <a:extLst>
                  <a:ext uri="{FF2B5EF4-FFF2-40B4-BE49-F238E27FC236}">
                    <a16:creationId xmlns:a16="http://schemas.microsoft.com/office/drawing/2014/main" id="{244300A1-A7C7-9177-6234-506FE7A08E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44947" y="6005635"/>
                <a:ext cx="1148739" cy="997019"/>
              </a:xfrm>
              <a:prstGeom prst="rect">
                <a:avLst/>
              </a:prstGeom>
            </p:spPr>
          </p:pic>
          <p:pic>
            <p:nvPicPr>
              <p:cNvPr id="63" name="グラフィック 14">
                <a:extLst>
                  <a:ext uri="{FF2B5EF4-FFF2-40B4-BE49-F238E27FC236}">
                    <a16:creationId xmlns:a16="http://schemas.microsoft.com/office/drawing/2014/main" id="{2F75DC1E-5B97-9BDD-D8DA-F1AF2635B3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67110" y="6066593"/>
                <a:ext cx="1257111" cy="1083716"/>
              </a:xfrm>
              <a:prstGeom prst="rect">
                <a:avLst/>
              </a:prstGeom>
            </p:spPr>
          </p:pic>
        </p:grpSp>
        <p:pic>
          <p:nvPicPr>
            <p:cNvPr id="61" name="図 60">
              <a:extLst>
                <a:ext uri="{FF2B5EF4-FFF2-40B4-BE49-F238E27FC236}">
                  <a16:creationId xmlns:a16="http://schemas.microsoft.com/office/drawing/2014/main" id="{139C4ED3-B021-5CE8-9D74-1DE6F008E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9421" y="1091944"/>
              <a:ext cx="876306" cy="641859"/>
            </a:xfrm>
            <a:prstGeom prst="rect">
              <a:avLst/>
            </a:prstGeom>
          </p:spPr>
        </p:pic>
      </p:grpSp>
      <p:sp>
        <p:nvSpPr>
          <p:cNvPr id="30" name="吹き出し: 円形 29">
            <a:extLst>
              <a:ext uri="{FF2B5EF4-FFF2-40B4-BE49-F238E27FC236}">
                <a16:creationId xmlns:a16="http://schemas.microsoft.com/office/drawing/2014/main" id="{7FD8110F-DD64-063F-DBCC-6B7FD39FF3C1}"/>
              </a:ext>
            </a:extLst>
          </p:cNvPr>
          <p:cNvSpPr/>
          <p:nvPr/>
        </p:nvSpPr>
        <p:spPr>
          <a:xfrm>
            <a:off x="1925268" y="8592528"/>
            <a:ext cx="1104870" cy="244894"/>
          </a:xfrm>
          <a:prstGeom prst="wedgeEllipseCallout">
            <a:avLst>
              <a:gd name="adj1" fmla="val 50848"/>
              <a:gd name="adj2" fmla="val 3061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C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手作り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9F5B6E6-597D-6433-1630-03383875732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7703" y="1873835"/>
            <a:ext cx="2247900" cy="22479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9395BF6-8614-1DDC-B326-09E3AF32527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1171" y="1889786"/>
            <a:ext cx="2266950" cy="2257425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DD4B2B-DC49-1046-53E8-35EDD8CB858E}"/>
              </a:ext>
            </a:extLst>
          </p:cNvPr>
          <p:cNvSpPr txBox="1"/>
          <p:nvPr/>
        </p:nvSpPr>
        <p:spPr>
          <a:xfrm>
            <a:off x="3946767" y="1486948"/>
            <a:ext cx="1785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電動ロクロ体験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082D991-6A99-4B71-6514-38424AD634E8}"/>
              </a:ext>
            </a:extLst>
          </p:cNvPr>
          <p:cNvSpPr txBox="1"/>
          <p:nvPr/>
        </p:nvSpPr>
        <p:spPr>
          <a:xfrm>
            <a:off x="2793089" y="4363287"/>
            <a:ext cx="17854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400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手回しロクロ体験</a:t>
            </a:r>
          </a:p>
        </p:txBody>
      </p:sp>
      <p:sp>
        <p:nvSpPr>
          <p:cNvPr id="37" name="テキスト プレースホルダー 6">
            <a:extLst>
              <a:ext uri="{FF2B5EF4-FFF2-40B4-BE49-F238E27FC236}">
                <a16:creationId xmlns:a16="http://schemas.microsoft.com/office/drawing/2014/main" id="{DC60CEAA-756D-CBC3-A572-31B8E89524A0}"/>
              </a:ext>
            </a:extLst>
          </p:cNvPr>
          <p:cNvSpPr txBox="1">
            <a:spLocks/>
          </p:cNvSpPr>
          <p:nvPr/>
        </p:nvSpPr>
        <p:spPr>
          <a:xfrm>
            <a:off x="96581" y="1909143"/>
            <a:ext cx="2381122" cy="2582121"/>
          </a:xfrm>
          <a:prstGeom prst="rect">
            <a:avLst/>
          </a:prstGeom>
        </p:spPr>
        <p:txBody>
          <a:bodyPr vert="horz" lIns="87082" tIns="43541" rIns="87082" bIns="43541" rtlCol="0">
            <a:noAutofit/>
          </a:bodyPr>
          <a:lstStyle>
            <a:lvl1pPr marL="0" indent="0" algn="l" defTabSz="777240" rtl="0" eaLnBrk="1" latinLnBrk="0" hangingPunct="1">
              <a:lnSpc>
                <a:spcPct val="90000"/>
              </a:lnSpc>
              <a:spcBef>
                <a:spcPts val="850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38862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77724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586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554480" indent="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None/>
              <a:defRPr kumimoji="1" sz="14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kumimoji="1"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日程：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lang="ja-JP" altLang="en-US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時間：第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10:00-11:00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11:15-12: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１５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 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 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13:30-1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５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: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０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b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場所：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階 イベントホール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定員：第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　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　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　　第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　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費用：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7,500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円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/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名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締切：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月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28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日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土</a:t>
            </a:r>
            <a:r>
              <a:rPr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  <a:p>
            <a:pPr>
              <a:lnSpc>
                <a:spcPts val="1619"/>
              </a:lnSpc>
              <a:spcBef>
                <a:spcPts val="0"/>
              </a:spcBef>
            </a:pPr>
            <a:r>
              <a:rPr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申込：上記共通申込フォーム</a:t>
            </a:r>
            <a:endParaRPr lang="en-US" altLang="ja-JP" sz="10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00E7B64A-FAB9-C0E4-B890-86BC051DE71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77703" y="4832858"/>
            <a:ext cx="2247900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474084"/>
      </p:ext>
    </p:extLst>
  </p:cSld>
  <p:clrMapOvr>
    <a:masterClrMapping/>
  </p:clrMapOvr>
</p:sld>
</file>

<file path=ppt/theme/theme1.xml><?xml version="1.0" encoding="utf-8"?>
<a:theme xmlns:a="http://schemas.openxmlformats.org/drawingml/2006/main" name="小規模ビジネス用チラシ 8.5 x 11">
  <a:themeElements>
    <a:clrScheme name="Custom 16">
      <a:dk1>
        <a:srgbClr val="151515"/>
      </a:dk1>
      <a:lt1>
        <a:srgbClr val="FFFFFF"/>
      </a:lt1>
      <a:dk2>
        <a:srgbClr val="1C1C1C"/>
      </a:dk2>
      <a:lt2>
        <a:srgbClr val="FFFFFF"/>
      </a:lt2>
      <a:accent1>
        <a:srgbClr val="F3D569"/>
      </a:accent1>
      <a:accent2>
        <a:srgbClr val="5B85AA"/>
      </a:accent2>
      <a:accent3>
        <a:srgbClr val="ECBE18"/>
      </a:accent3>
      <a:accent4>
        <a:srgbClr val="9CB5CB"/>
      </a:accent4>
      <a:accent5>
        <a:srgbClr val="2C4255"/>
      </a:accent5>
      <a:accent6>
        <a:srgbClr val="F7E5A4"/>
      </a:accent6>
      <a:hlink>
        <a:srgbClr val="5B85AA"/>
      </a:hlink>
      <a:folHlink>
        <a:srgbClr val="5B85AA"/>
      </a:folHlink>
    </a:clrScheme>
    <a:fontScheme name="Custom 18">
      <a:majorFont>
        <a:latin typeface="Franklin Gothic Book"/>
        <a:ea typeface=""/>
        <a:cs typeface=""/>
      </a:majorFont>
      <a:minorFont>
        <a:latin typeface="Microsoft Sans Serif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30450460_TF03896029" id="{591C54B5-8EDB-461E-B398-A255E1C94422}" vid="{CB6EBD17-C801-4CAD-ACCD-32AA40B2D393}"/>
    </a:ext>
  </a:extLst>
</a:theme>
</file>

<file path=ppt/theme/theme2.xml><?xml version="1.0" encoding="utf-8"?>
<a:theme xmlns:a="http://schemas.openxmlformats.org/drawingml/2006/main" name="Office テーマ">
  <a:themeElements>
    <a:clrScheme name="Small Business Flyer">
      <a:dk1>
        <a:sysClr val="windowText" lastClr="000000"/>
      </a:dk1>
      <a:lt1>
        <a:sysClr val="window" lastClr="FFFFFF"/>
      </a:lt1>
      <a:dk2>
        <a:srgbClr val="424243"/>
      </a:dk2>
      <a:lt2>
        <a:srgbClr val="E7E6E6"/>
      </a:lt2>
      <a:accent1>
        <a:srgbClr val="F7B800"/>
      </a:accent1>
      <a:accent2>
        <a:srgbClr val="256DB8"/>
      </a:accent2>
      <a:accent3>
        <a:srgbClr val="56A74A"/>
      </a:accent3>
      <a:accent4>
        <a:srgbClr val="E53E2E"/>
      </a:accent4>
      <a:accent5>
        <a:srgbClr val="717073"/>
      </a:accent5>
      <a:accent6>
        <a:srgbClr val="75496B"/>
      </a:accent6>
      <a:hlink>
        <a:srgbClr val="256DB8"/>
      </a:hlink>
      <a:folHlink>
        <a:srgbClr val="BFBFBF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Small Business Flyer">
      <a:dk1>
        <a:sysClr val="windowText" lastClr="000000"/>
      </a:dk1>
      <a:lt1>
        <a:sysClr val="window" lastClr="FFFFFF"/>
      </a:lt1>
      <a:dk2>
        <a:srgbClr val="424243"/>
      </a:dk2>
      <a:lt2>
        <a:srgbClr val="E7E6E6"/>
      </a:lt2>
      <a:accent1>
        <a:srgbClr val="F7B800"/>
      </a:accent1>
      <a:accent2>
        <a:srgbClr val="256DB8"/>
      </a:accent2>
      <a:accent3>
        <a:srgbClr val="56A74A"/>
      </a:accent3>
      <a:accent4>
        <a:srgbClr val="E53E2E"/>
      </a:accent4>
      <a:accent5>
        <a:srgbClr val="717073"/>
      </a:accent5>
      <a:accent6>
        <a:srgbClr val="75496B"/>
      </a:accent6>
      <a:hlink>
        <a:srgbClr val="256DB8"/>
      </a:hlink>
      <a:folHlink>
        <a:srgbClr val="BFBFBF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小規模ビジネス用のチラシ (金色のデザイン)</Template>
  <TotalTime>7748</TotalTime>
  <Words>658</Words>
  <Application>Microsoft Office PowerPoint</Application>
  <PresentationFormat>ユーザー設定</PresentationFormat>
  <Paragraphs>51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BIZ UDPゴシック</vt:lpstr>
      <vt:lpstr>Meiryo UI</vt:lpstr>
      <vt:lpstr>Arial</vt:lpstr>
      <vt:lpstr>小規模ビジネス用チラシ 8.5 x 11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イベントのタイトル</dc:title>
  <dc:creator>ふるふる ふるふる</dc:creator>
  <cp:lastModifiedBy>浩史 古川</cp:lastModifiedBy>
  <cp:revision>145</cp:revision>
  <cp:lastPrinted>2025-02-16T13:41:56Z</cp:lastPrinted>
  <dcterms:created xsi:type="dcterms:W3CDTF">2023-01-08T13:30:11Z</dcterms:created>
  <dcterms:modified xsi:type="dcterms:W3CDTF">2026-01-09T08:31:29Z</dcterms:modified>
</cp:coreProperties>
</file>